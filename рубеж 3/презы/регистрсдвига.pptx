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24" y="-10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2186B-0404-41CA-A78E-82E2CA36A834}" type="datetimeFigureOut">
              <a:rPr lang="ru-RU" smtClean="0"/>
              <a:t>12.05.2021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AD3D2-CAA3-474F-B8CE-1D8A6798D8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4535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2186B-0404-41CA-A78E-82E2CA36A834}" type="datetimeFigureOut">
              <a:rPr lang="ru-RU" smtClean="0"/>
              <a:t>12.05.2021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AD3D2-CAA3-474F-B8CE-1D8A6798D8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23726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2186B-0404-41CA-A78E-82E2CA36A834}" type="datetimeFigureOut">
              <a:rPr lang="ru-RU" smtClean="0"/>
              <a:t>12.05.2021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AD3D2-CAA3-474F-B8CE-1D8A6798D8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5393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2186B-0404-41CA-A78E-82E2CA36A834}" type="datetimeFigureOut">
              <a:rPr lang="ru-RU" smtClean="0"/>
              <a:t>12.05.2021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AD3D2-CAA3-474F-B8CE-1D8A6798D8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46491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2186B-0404-41CA-A78E-82E2CA36A834}" type="datetimeFigureOut">
              <a:rPr lang="ru-RU" smtClean="0"/>
              <a:t>12.05.2021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AD3D2-CAA3-474F-B8CE-1D8A6798D8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24555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2186B-0404-41CA-A78E-82E2CA36A834}" type="datetimeFigureOut">
              <a:rPr lang="ru-RU" smtClean="0"/>
              <a:t>12.05.2021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AD3D2-CAA3-474F-B8CE-1D8A6798D8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3076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2186B-0404-41CA-A78E-82E2CA36A834}" type="datetimeFigureOut">
              <a:rPr lang="ru-RU" smtClean="0"/>
              <a:t>12.05.2021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AD3D2-CAA3-474F-B8CE-1D8A6798D8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162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2186B-0404-41CA-A78E-82E2CA36A834}" type="datetimeFigureOut">
              <a:rPr lang="ru-RU" smtClean="0"/>
              <a:t>12.05.2021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AD3D2-CAA3-474F-B8CE-1D8A6798D8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4423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2186B-0404-41CA-A78E-82E2CA36A834}" type="datetimeFigureOut">
              <a:rPr lang="ru-RU" smtClean="0"/>
              <a:t>12.05.2021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AD3D2-CAA3-474F-B8CE-1D8A6798D8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11899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2186B-0404-41CA-A78E-82E2CA36A834}" type="datetimeFigureOut">
              <a:rPr lang="ru-RU" smtClean="0"/>
              <a:t>12.05.2021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AD3D2-CAA3-474F-B8CE-1D8A6798D8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6799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2186B-0404-41CA-A78E-82E2CA36A834}" type="datetimeFigureOut">
              <a:rPr lang="ru-RU" smtClean="0"/>
              <a:t>12.05.2021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AD3D2-CAA3-474F-B8CE-1D8A6798D8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83333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12186B-0404-41CA-A78E-82E2CA36A834}" type="datetimeFigureOut">
              <a:rPr lang="ru-RU" smtClean="0"/>
              <a:t>12.05.2021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CAD3D2-CAA3-474F-B8CE-1D8A6798D8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9640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2464" y="1215515"/>
            <a:ext cx="7572375" cy="5229225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8198" y="3167061"/>
            <a:ext cx="6534209" cy="663066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376686" y="4425351"/>
            <a:ext cx="2622430" cy="7763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Переключатели берем из вкладки </a:t>
            </a:r>
            <a:r>
              <a:rPr lang="en-US" dirty="0" smtClean="0"/>
              <a:t>Switches – High Low Switch</a:t>
            </a:r>
            <a:r>
              <a:rPr lang="ru-RU" dirty="0" smtClean="0"/>
              <a:t> </a:t>
            </a:r>
            <a:endParaRPr lang="ru-RU" dirty="0"/>
          </a:p>
        </p:txBody>
      </p:sp>
      <p:cxnSp>
        <p:nvCxnSpPr>
          <p:cNvPr id="7" name="Прямая со стрелкой 6"/>
          <p:cNvCxnSpPr/>
          <p:nvPr/>
        </p:nvCxnSpPr>
        <p:spPr>
          <a:xfrm>
            <a:off x="2881223" y="5208198"/>
            <a:ext cx="595222" cy="60600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 стрелкой 8"/>
          <p:cNvCxnSpPr/>
          <p:nvPr/>
        </p:nvCxnSpPr>
        <p:spPr>
          <a:xfrm flipV="1">
            <a:off x="3032837" y="4444220"/>
            <a:ext cx="235790" cy="24153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Рисунок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8284" y="5299852"/>
            <a:ext cx="1512534" cy="516327"/>
          </a:xfrm>
          <a:prstGeom prst="rect">
            <a:avLst/>
          </a:prstGeom>
        </p:spPr>
      </p:pic>
      <p:sp>
        <p:nvSpPr>
          <p:cNvPr id="13" name="Прямоугольник 12"/>
          <p:cNvSpPr/>
          <p:nvPr/>
        </p:nvSpPr>
        <p:spPr>
          <a:xfrm>
            <a:off x="3234906" y="6015037"/>
            <a:ext cx="3260785" cy="7763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Инвертор </a:t>
            </a:r>
            <a:r>
              <a:rPr lang="ru-RU" dirty="0" smtClean="0"/>
              <a:t>берем из вкладки </a:t>
            </a:r>
            <a:r>
              <a:rPr lang="en-US" dirty="0" smtClean="0"/>
              <a:t>Gates – Inverter</a:t>
            </a:r>
            <a:endParaRPr lang="ru-RU" dirty="0"/>
          </a:p>
        </p:txBody>
      </p:sp>
      <p:cxnSp>
        <p:nvCxnSpPr>
          <p:cNvPr id="14" name="Прямая со стрелкой 13"/>
          <p:cNvCxnSpPr/>
          <p:nvPr/>
        </p:nvCxnSpPr>
        <p:spPr>
          <a:xfrm flipV="1">
            <a:off x="4972252" y="4810437"/>
            <a:ext cx="256203" cy="110418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Прямая со стрелкой 17"/>
          <p:cNvCxnSpPr/>
          <p:nvPr/>
        </p:nvCxnSpPr>
        <p:spPr>
          <a:xfrm flipV="1">
            <a:off x="5000684" y="2820387"/>
            <a:ext cx="1851680" cy="309423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 стрелкой 20"/>
          <p:cNvCxnSpPr/>
          <p:nvPr/>
        </p:nvCxnSpPr>
        <p:spPr>
          <a:xfrm flipV="1">
            <a:off x="3027548" y="2880772"/>
            <a:ext cx="174421" cy="180660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 стрелкой 22"/>
          <p:cNvCxnSpPr/>
          <p:nvPr/>
        </p:nvCxnSpPr>
        <p:spPr>
          <a:xfrm flipV="1">
            <a:off x="7017759" y="2872955"/>
            <a:ext cx="478596" cy="193748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Прямоугольник 24"/>
          <p:cNvSpPr/>
          <p:nvPr/>
        </p:nvSpPr>
        <p:spPr>
          <a:xfrm>
            <a:off x="7027170" y="5668363"/>
            <a:ext cx="3260785" cy="7763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JK-</a:t>
            </a:r>
            <a:r>
              <a:rPr lang="ru-RU" dirty="0" smtClean="0"/>
              <a:t>микросхему берем из вкладки </a:t>
            </a:r>
            <a:r>
              <a:rPr lang="en-US" dirty="0" smtClean="0"/>
              <a:t>Flip-flops – JK </a:t>
            </a:r>
            <a:r>
              <a:rPr lang="en-US" dirty="0" err="1" smtClean="0"/>
              <a:t>FlipFlop</a:t>
            </a:r>
            <a:endParaRPr lang="ru-RU" dirty="0"/>
          </a:p>
        </p:txBody>
      </p:sp>
      <p:cxnSp>
        <p:nvCxnSpPr>
          <p:cNvPr id="26" name="Прямая со стрелкой 25"/>
          <p:cNvCxnSpPr/>
          <p:nvPr/>
        </p:nvCxnSpPr>
        <p:spPr>
          <a:xfrm flipH="1" flipV="1">
            <a:off x="7257057" y="5362528"/>
            <a:ext cx="331673" cy="30583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Прямоугольник 27"/>
          <p:cNvSpPr/>
          <p:nvPr/>
        </p:nvSpPr>
        <p:spPr>
          <a:xfrm>
            <a:off x="9314352" y="4409995"/>
            <a:ext cx="2533032" cy="8008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Индикаторы берем из вкладки </a:t>
            </a:r>
            <a:r>
              <a:rPr lang="en-US" dirty="0" smtClean="0"/>
              <a:t>Meters – Logic Indicator</a:t>
            </a:r>
            <a:endParaRPr lang="ru-RU" dirty="0"/>
          </a:p>
        </p:txBody>
      </p:sp>
      <p:cxnSp>
        <p:nvCxnSpPr>
          <p:cNvPr id="29" name="Прямая со стрелкой 28"/>
          <p:cNvCxnSpPr>
            <a:stCxn id="28" idx="1"/>
          </p:cNvCxnSpPr>
          <p:nvPr/>
        </p:nvCxnSpPr>
        <p:spPr>
          <a:xfrm flipH="1" flipV="1">
            <a:off x="8853932" y="4722360"/>
            <a:ext cx="460420" cy="8807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Прямоугольник 32"/>
          <p:cNvSpPr/>
          <p:nvPr/>
        </p:nvSpPr>
        <p:spPr>
          <a:xfrm>
            <a:off x="9407283" y="2985254"/>
            <a:ext cx="2616680" cy="91440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Построим </a:t>
            </a:r>
            <a:r>
              <a:rPr lang="en-US" dirty="0" smtClean="0"/>
              <a:t>D-</a:t>
            </a:r>
            <a:r>
              <a:rPr lang="ru-RU" dirty="0"/>
              <a:t>т</a:t>
            </a:r>
            <a:r>
              <a:rPr lang="ru-RU" dirty="0" smtClean="0"/>
              <a:t>риггер на </a:t>
            </a:r>
            <a:r>
              <a:rPr lang="en-US" dirty="0" smtClean="0"/>
              <a:t>JK-</a:t>
            </a:r>
            <a:r>
              <a:rPr lang="ru-RU" dirty="0" smtClean="0"/>
              <a:t>микросхеме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707425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0237" y="1081087"/>
            <a:ext cx="8391525" cy="4695825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8522897" y="4714334"/>
            <a:ext cx="2616680" cy="1319842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Получили схему </a:t>
            </a:r>
            <a:r>
              <a:rPr lang="en-US" dirty="0" smtClean="0"/>
              <a:t>D-</a:t>
            </a:r>
            <a:r>
              <a:rPr lang="ru-RU" dirty="0" smtClean="0"/>
              <a:t>триггера на </a:t>
            </a:r>
            <a:r>
              <a:rPr lang="en-US" dirty="0" smtClean="0"/>
              <a:t>JK-</a:t>
            </a:r>
            <a:r>
              <a:rPr lang="ru-RU" dirty="0" smtClean="0"/>
              <a:t>микросхеме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02816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1993" y="1317774"/>
            <a:ext cx="6972300" cy="4981575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1793" y="2608411"/>
            <a:ext cx="2571750" cy="120015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9954" y="2921480"/>
            <a:ext cx="1838325" cy="10668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79954" y="6090789"/>
            <a:ext cx="2981325" cy="628650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7573453" y="1957115"/>
            <a:ext cx="2616680" cy="65129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Проверим его работу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924557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8106" y="5650842"/>
            <a:ext cx="3124200" cy="485775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2688" y="689575"/>
            <a:ext cx="7581900" cy="485775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6206" y="6136617"/>
            <a:ext cx="3048000" cy="523875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7668883" y="1708030"/>
            <a:ext cx="2295705" cy="87126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На спаде сигнала С, триггер поменял свое состояние на 1</a:t>
            </a:r>
            <a:endParaRPr lang="ru-RU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6906883" y="5265349"/>
            <a:ext cx="4014159" cy="87126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Соединим 4 </a:t>
            </a:r>
            <a:r>
              <a:rPr lang="en-US" dirty="0" smtClean="0"/>
              <a:t>D-</a:t>
            </a:r>
            <a:r>
              <a:rPr lang="ru-RU" dirty="0" smtClean="0"/>
              <a:t>триггера последовательно, получим схему регистра сдвига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68796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1022" y="643729"/>
            <a:ext cx="9114840" cy="5606321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810883" y="2078966"/>
            <a:ext cx="3372928" cy="87126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Подключим выходы триггеров ко входам других</a:t>
            </a:r>
            <a:endParaRPr lang="ru-RU" dirty="0"/>
          </a:p>
        </p:txBody>
      </p:sp>
      <p:cxnSp>
        <p:nvCxnSpPr>
          <p:cNvPr id="4" name="Прямая со стрелкой 3"/>
          <p:cNvCxnSpPr/>
          <p:nvPr/>
        </p:nvCxnSpPr>
        <p:spPr>
          <a:xfrm>
            <a:off x="3441940" y="2691442"/>
            <a:ext cx="2573559" cy="113868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 стрелкой 8"/>
          <p:cNvCxnSpPr/>
          <p:nvPr/>
        </p:nvCxnSpPr>
        <p:spPr>
          <a:xfrm>
            <a:off x="3441940" y="2691442"/>
            <a:ext cx="4080294" cy="113868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>
            <a:off x="3441940" y="2691442"/>
            <a:ext cx="6012611" cy="113868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Рисунок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6196" y="5735700"/>
            <a:ext cx="5857875" cy="514350"/>
          </a:xfrm>
          <a:prstGeom prst="rect">
            <a:avLst/>
          </a:prstGeom>
        </p:spPr>
      </p:pic>
      <p:cxnSp>
        <p:nvCxnSpPr>
          <p:cNvPr id="15" name="Прямая со стрелкой 14"/>
          <p:cNvCxnSpPr/>
          <p:nvPr/>
        </p:nvCxnSpPr>
        <p:spPr>
          <a:xfrm flipV="1">
            <a:off x="3087974" y="4053668"/>
            <a:ext cx="1640745" cy="125285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5793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240" y="1274163"/>
            <a:ext cx="9290737" cy="4709521"/>
          </a:xfrm>
          <a:prstGeom prst="rect">
            <a:avLst/>
          </a:prstGeom>
        </p:spPr>
      </p:pic>
      <p:cxnSp>
        <p:nvCxnSpPr>
          <p:cNvPr id="3" name="Прямая со стрелкой 2"/>
          <p:cNvCxnSpPr/>
          <p:nvPr/>
        </p:nvCxnSpPr>
        <p:spPr>
          <a:xfrm>
            <a:off x="2593298" y="1900589"/>
            <a:ext cx="1993692" cy="132229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Прямая со стрелкой 4"/>
          <p:cNvCxnSpPr/>
          <p:nvPr/>
        </p:nvCxnSpPr>
        <p:spPr>
          <a:xfrm>
            <a:off x="2593298" y="1900590"/>
            <a:ext cx="3464310" cy="120237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 стрелкой 6"/>
          <p:cNvCxnSpPr/>
          <p:nvPr/>
        </p:nvCxnSpPr>
        <p:spPr>
          <a:xfrm>
            <a:off x="2593298" y="1900589"/>
            <a:ext cx="4966622" cy="109744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 стрелкой 8"/>
          <p:cNvCxnSpPr/>
          <p:nvPr/>
        </p:nvCxnSpPr>
        <p:spPr>
          <a:xfrm>
            <a:off x="2593298" y="1900588"/>
            <a:ext cx="6707308" cy="46311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2731" y="815851"/>
            <a:ext cx="5857875" cy="514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9362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95" y="2263516"/>
            <a:ext cx="11515064" cy="371756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4895584" y="1158017"/>
            <a:ext cx="3372928" cy="103054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Дополним схему устройством которое преобразует двоичный код в десятичный и отображает его</a:t>
            </a:r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8375494" y="5789596"/>
            <a:ext cx="3260785" cy="7763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Дешифратор берем из вкладки </a:t>
            </a:r>
            <a:r>
              <a:rPr lang="en-US" dirty="0" smtClean="0"/>
              <a:t>Logic ICs – Decoders</a:t>
            </a:r>
            <a:endParaRPr lang="ru-RU" dirty="0"/>
          </a:p>
        </p:txBody>
      </p:sp>
      <p:cxnSp>
        <p:nvCxnSpPr>
          <p:cNvPr id="5" name="Прямая со стрелкой 4"/>
          <p:cNvCxnSpPr/>
          <p:nvPr/>
        </p:nvCxnSpPr>
        <p:spPr>
          <a:xfrm flipV="1">
            <a:off x="9781033" y="5281255"/>
            <a:ext cx="449705" cy="50834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 стрелкой 6"/>
          <p:cNvCxnSpPr/>
          <p:nvPr/>
        </p:nvCxnSpPr>
        <p:spPr>
          <a:xfrm>
            <a:off x="11032761" y="2113613"/>
            <a:ext cx="514991" cy="88730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Прямоугольник 8"/>
          <p:cNvSpPr/>
          <p:nvPr/>
        </p:nvSpPr>
        <p:spPr>
          <a:xfrm>
            <a:off x="8453107" y="1232968"/>
            <a:ext cx="3260785" cy="7763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err="1" smtClean="0"/>
              <a:t>Семисегментный</a:t>
            </a:r>
            <a:r>
              <a:rPr lang="ru-RU" dirty="0"/>
              <a:t> </a:t>
            </a:r>
            <a:r>
              <a:rPr lang="ru-RU" dirty="0" smtClean="0"/>
              <a:t>индикатор берем из вкладки </a:t>
            </a:r>
            <a:r>
              <a:rPr lang="en-US" dirty="0" smtClean="0"/>
              <a:t>Meters – 7 Segment Display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996145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292" y="1806892"/>
            <a:ext cx="11048398" cy="362712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2598323" y="5434012"/>
            <a:ext cx="3996906" cy="106167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Получили модель </a:t>
            </a:r>
            <a:r>
              <a:rPr lang="ru-RU" dirty="0" smtClean="0"/>
              <a:t>регистра сдвига </a:t>
            </a:r>
            <a:r>
              <a:rPr lang="ru-RU" dirty="0" smtClean="0"/>
              <a:t>на </a:t>
            </a:r>
            <a:r>
              <a:rPr lang="en-US" dirty="0" smtClean="0"/>
              <a:t>D-</a:t>
            </a:r>
            <a:r>
              <a:rPr lang="ru-RU" dirty="0" smtClean="0"/>
              <a:t>триггерах</a:t>
            </a:r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7432159" y="5624622"/>
            <a:ext cx="3090028" cy="67968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Проверим ее работу</a:t>
            </a:r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5187" y="1111055"/>
            <a:ext cx="3783972" cy="1010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9222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22" y="676422"/>
            <a:ext cx="11245516" cy="4572939"/>
          </a:xfrm>
          <a:prstGeom prst="rect">
            <a:avLst/>
          </a:prstGeom>
        </p:spPr>
      </p:pic>
      <p:cxnSp>
        <p:nvCxnSpPr>
          <p:cNvPr id="3" name="Прямая со стрелкой 2"/>
          <p:cNvCxnSpPr/>
          <p:nvPr/>
        </p:nvCxnSpPr>
        <p:spPr>
          <a:xfrm flipH="1" flipV="1">
            <a:off x="5021179" y="962526"/>
            <a:ext cx="1700463" cy="394635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 стрелкой 6"/>
          <p:cNvCxnSpPr/>
          <p:nvPr/>
        </p:nvCxnSpPr>
        <p:spPr>
          <a:xfrm flipH="1" flipV="1">
            <a:off x="2237875" y="1900990"/>
            <a:ext cx="1724525" cy="286351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 стрелкой 8"/>
          <p:cNvCxnSpPr/>
          <p:nvPr/>
        </p:nvCxnSpPr>
        <p:spPr>
          <a:xfrm flipH="1" flipV="1">
            <a:off x="1652337" y="2962892"/>
            <a:ext cx="2310063" cy="180161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 flipH="1" flipV="1">
            <a:off x="2117558" y="4523875"/>
            <a:ext cx="1844842" cy="24063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Овал 15"/>
          <p:cNvSpPr/>
          <p:nvPr/>
        </p:nvSpPr>
        <p:spPr>
          <a:xfrm>
            <a:off x="4439669" y="651975"/>
            <a:ext cx="918393" cy="310551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вал 16"/>
          <p:cNvSpPr/>
          <p:nvPr/>
        </p:nvSpPr>
        <p:spPr>
          <a:xfrm>
            <a:off x="9198624" y="1650001"/>
            <a:ext cx="918393" cy="50197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14045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026" y="520700"/>
            <a:ext cx="10466136" cy="4260850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5912" y="4781550"/>
            <a:ext cx="2892955" cy="666713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997493" y="4867427"/>
            <a:ext cx="2279107" cy="58083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SW5=1 (</a:t>
            </a:r>
            <a:r>
              <a:rPr lang="ru-RU" dirty="0" smtClean="0"/>
              <a:t>Разрешение записи в регистр)</a:t>
            </a:r>
            <a:endParaRPr lang="ru-RU" dirty="0"/>
          </a:p>
        </p:txBody>
      </p:sp>
      <p:cxnSp>
        <p:nvCxnSpPr>
          <p:cNvPr id="5" name="Прямая со стрелкой 4"/>
          <p:cNvCxnSpPr/>
          <p:nvPr/>
        </p:nvCxnSpPr>
        <p:spPr>
          <a:xfrm flipV="1">
            <a:off x="2023533" y="2252133"/>
            <a:ext cx="1905000" cy="252941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Овал 8"/>
          <p:cNvSpPr/>
          <p:nvPr/>
        </p:nvSpPr>
        <p:spPr>
          <a:xfrm>
            <a:off x="1366957" y="2651125"/>
            <a:ext cx="918393" cy="50197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101" y="1574586"/>
            <a:ext cx="1403864" cy="1076539"/>
          </a:xfrm>
          <a:prstGeom prst="rect">
            <a:avLst/>
          </a:prstGeom>
        </p:spPr>
      </p:pic>
      <p:cxnSp>
        <p:nvCxnSpPr>
          <p:cNvPr id="11" name="Прямая со стрелкой 10"/>
          <p:cNvCxnSpPr/>
          <p:nvPr/>
        </p:nvCxnSpPr>
        <p:spPr>
          <a:xfrm>
            <a:off x="1890698" y="2252133"/>
            <a:ext cx="2111403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353336"/>
            <a:ext cx="1878950" cy="70335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36611" y="3552419"/>
            <a:ext cx="173844" cy="137971"/>
          </a:xfrm>
          <a:prstGeom prst="rect">
            <a:avLst/>
          </a:prstGeom>
        </p:spPr>
      </p:pic>
      <p:cxnSp>
        <p:nvCxnSpPr>
          <p:cNvPr id="20" name="Прямая со стрелкой 19"/>
          <p:cNvCxnSpPr/>
          <p:nvPr/>
        </p:nvCxnSpPr>
        <p:spPr>
          <a:xfrm flipV="1">
            <a:off x="1808334" y="3127910"/>
            <a:ext cx="109417" cy="45085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32004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440" y="872664"/>
            <a:ext cx="10548168" cy="4142099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3314" y="5235038"/>
            <a:ext cx="1397086" cy="378362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004" y="3490665"/>
            <a:ext cx="1742536" cy="652286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0430" y="3688081"/>
            <a:ext cx="158386" cy="12319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8950" y="3881121"/>
            <a:ext cx="158386" cy="12319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82844" y="3773439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>
                <a:solidFill>
                  <a:srgbClr val="FF0000"/>
                </a:solidFill>
              </a:rPr>
              <a:t>0</a:t>
            </a:r>
            <a:endParaRPr lang="ru-RU" sz="1600" dirty="0">
              <a:solidFill>
                <a:srgbClr val="FF0000"/>
              </a:solidFill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895030" y="2169160"/>
            <a:ext cx="1370441" cy="57971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200" dirty="0" smtClean="0"/>
              <a:t>Записался 0 </a:t>
            </a:r>
            <a:r>
              <a:rPr lang="ru-RU" sz="1200" dirty="0"/>
              <a:t>2</a:t>
            </a:r>
            <a:r>
              <a:rPr lang="ru-RU" sz="1200" dirty="0" smtClean="0"/>
              <a:t>-его разряда кода в первый регистр </a:t>
            </a:r>
            <a:endParaRPr lang="ru-RU" sz="1200" dirty="0"/>
          </a:p>
        </p:txBody>
      </p:sp>
      <p:cxnSp>
        <p:nvCxnSpPr>
          <p:cNvPr id="13" name="Прямая со стрелкой 12"/>
          <p:cNvCxnSpPr>
            <a:stCxn id="11" idx="3"/>
          </p:cNvCxnSpPr>
          <p:nvPr/>
        </p:nvCxnSpPr>
        <p:spPr>
          <a:xfrm flipV="1">
            <a:off x="2265471" y="2387600"/>
            <a:ext cx="1951537" cy="7141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/>
          <p:cNvCxnSpPr/>
          <p:nvPr/>
        </p:nvCxnSpPr>
        <p:spPr>
          <a:xfrm flipV="1">
            <a:off x="1971706" y="3209406"/>
            <a:ext cx="32972" cy="38627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Прямоугольник 19"/>
          <p:cNvSpPr/>
          <p:nvPr/>
        </p:nvSpPr>
        <p:spPr>
          <a:xfrm>
            <a:off x="4334105" y="2469175"/>
            <a:ext cx="1370441" cy="57971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200" dirty="0" smtClean="0"/>
              <a:t>Произошел сдвиг 1-ого разряда во 2-ой триггер</a:t>
            </a:r>
            <a:endParaRPr lang="ru-RU" sz="1200" dirty="0"/>
          </a:p>
        </p:txBody>
      </p:sp>
      <p:cxnSp>
        <p:nvCxnSpPr>
          <p:cNvPr id="21" name="Прямая со стрелкой 20"/>
          <p:cNvCxnSpPr/>
          <p:nvPr/>
        </p:nvCxnSpPr>
        <p:spPr>
          <a:xfrm>
            <a:off x="4395065" y="2365240"/>
            <a:ext cx="1050695" cy="528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0686" y="5005796"/>
            <a:ext cx="2206326" cy="301160"/>
          </a:xfrm>
          <a:prstGeom prst="rect">
            <a:avLst/>
          </a:prstGeom>
        </p:spPr>
      </p:pic>
      <p:sp>
        <p:nvSpPr>
          <p:cNvPr id="27" name="Прямоугольник 26"/>
          <p:cNvSpPr/>
          <p:nvPr/>
        </p:nvSpPr>
        <p:spPr>
          <a:xfrm>
            <a:off x="5025469" y="4746120"/>
            <a:ext cx="1388083" cy="25967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200" dirty="0" smtClean="0"/>
              <a:t>Перевести ключи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35052279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636" y="736600"/>
            <a:ext cx="11310132" cy="445770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3958669" y="4898520"/>
            <a:ext cx="3127931" cy="29578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200" dirty="0" smtClean="0"/>
              <a:t>Продолжим подавать код 1001</a:t>
            </a:r>
            <a:endParaRPr lang="ru-RU" sz="1200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4728884" y="5283200"/>
            <a:ext cx="1587500" cy="279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200" dirty="0" smtClean="0"/>
              <a:t>Переведем ключи</a:t>
            </a:r>
            <a:endParaRPr lang="ru-RU" sz="1200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7769" y="5651500"/>
            <a:ext cx="2556431" cy="284820"/>
          </a:xfrm>
          <a:prstGeom prst="rect">
            <a:avLst/>
          </a:prstGeom>
        </p:spPr>
      </p:pic>
      <p:sp>
        <p:nvSpPr>
          <p:cNvPr id="8" name="Прямоугольник 7"/>
          <p:cNvSpPr/>
          <p:nvPr/>
        </p:nvSpPr>
        <p:spPr>
          <a:xfrm>
            <a:off x="514030" y="3640667"/>
            <a:ext cx="1370441" cy="57971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200" dirty="0" smtClean="0"/>
              <a:t>Установим ключ в положение 0</a:t>
            </a:r>
            <a:endParaRPr lang="ru-RU" sz="1200" dirty="0"/>
          </a:p>
        </p:txBody>
      </p:sp>
      <p:cxnSp>
        <p:nvCxnSpPr>
          <p:cNvPr id="9" name="Прямая со стрелкой 8"/>
          <p:cNvCxnSpPr/>
          <p:nvPr/>
        </p:nvCxnSpPr>
        <p:spPr>
          <a:xfrm flipV="1">
            <a:off x="1884471" y="2400300"/>
            <a:ext cx="1951537" cy="7141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 стрелкой 9"/>
          <p:cNvCxnSpPr/>
          <p:nvPr/>
        </p:nvCxnSpPr>
        <p:spPr>
          <a:xfrm flipH="1" flipV="1">
            <a:off x="1532467" y="3149748"/>
            <a:ext cx="76200" cy="47538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Прямоугольник 14"/>
          <p:cNvSpPr/>
          <p:nvPr/>
        </p:nvSpPr>
        <p:spPr>
          <a:xfrm>
            <a:off x="666430" y="2334260"/>
            <a:ext cx="1370441" cy="57971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200" dirty="0" smtClean="0"/>
              <a:t>Записался 0 3-его разряда кода в первый регистр </a:t>
            </a:r>
            <a:endParaRPr lang="ru-RU" sz="1200" dirty="0"/>
          </a:p>
        </p:txBody>
      </p:sp>
      <p:sp>
        <p:nvSpPr>
          <p:cNvPr id="20" name="Прямоугольник 19"/>
          <p:cNvSpPr/>
          <p:nvPr/>
        </p:nvSpPr>
        <p:spPr>
          <a:xfrm>
            <a:off x="4152193" y="2454230"/>
            <a:ext cx="1370441" cy="57971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200" dirty="0" smtClean="0"/>
              <a:t>Произошел сдвиг 2-ого разряда во 2-ой триггер</a:t>
            </a:r>
            <a:endParaRPr lang="ru-RU" sz="1200" dirty="0"/>
          </a:p>
        </p:txBody>
      </p:sp>
      <p:cxnSp>
        <p:nvCxnSpPr>
          <p:cNvPr id="21" name="Прямая со стрелкой 20"/>
          <p:cNvCxnSpPr/>
          <p:nvPr/>
        </p:nvCxnSpPr>
        <p:spPr>
          <a:xfrm flipV="1">
            <a:off x="4152193" y="2221766"/>
            <a:ext cx="1122540" cy="4899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Прямоугольник 23"/>
          <p:cNvSpPr/>
          <p:nvPr/>
        </p:nvSpPr>
        <p:spPr>
          <a:xfrm>
            <a:off x="5631163" y="2471715"/>
            <a:ext cx="1370441" cy="57971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200" dirty="0" smtClean="0"/>
              <a:t>Произошел сдвиг 1-ого разряда во 3-ой триггер</a:t>
            </a:r>
            <a:endParaRPr lang="ru-RU" sz="1200" dirty="0"/>
          </a:p>
        </p:txBody>
      </p:sp>
      <p:cxnSp>
        <p:nvCxnSpPr>
          <p:cNvPr id="25" name="Прямая со стрелкой 24"/>
          <p:cNvCxnSpPr/>
          <p:nvPr/>
        </p:nvCxnSpPr>
        <p:spPr>
          <a:xfrm flipV="1">
            <a:off x="5507432" y="2207614"/>
            <a:ext cx="1122540" cy="4899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994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188" y="1686943"/>
            <a:ext cx="9938703" cy="3554412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3777515" y="5241355"/>
            <a:ext cx="3127931" cy="29578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200" dirty="0" smtClean="0"/>
              <a:t>Продолжим подавать код 1001</a:t>
            </a:r>
            <a:endParaRPr lang="ru-RU" sz="1200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6059" y="5883771"/>
            <a:ext cx="2354741" cy="372178"/>
          </a:xfrm>
          <a:prstGeom prst="rect">
            <a:avLst/>
          </a:prstGeom>
        </p:spPr>
      </p:pic>
      <p:cxnSp>
        <p:nvCxnSpPr>
          <p:cNvPr id="8" name="Прямая со стрелкой 7"/>
          <p:cNvCxnSpPr/>
          <p:nvPr/>
        </p:nvCxnSpPr>
        <p:spPr>
          <a:xfrm flipH="1" flipV="1">
            <a:off x="1457865" y="4528868"/>
            <a:ext cx="17252" cy="46582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Рисунок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196" y="4388363"/>
            <a:ext cx="1805010" cy="667255"/>
          </a:xfrm>
          <a:prstGeom prst="rect">
            <a:avLst/>
          </a:prstGeom>
        </p:spPr>
      </p:pic>
      <p:cxnSp>
        <p:nvCxnSpPr>
          <p:cNvPr id="12" name="Прямая со стрелкой 11"/>
          <p:cNvCxnSpPr/>
          <p:nvPr/>
        </p:nvCxnSpPr>
        <p:spPr>
          <a:xfrm flipV="1">
            <a:off x="1551317" y="4092583"/>
            <a:ext cx="96328" cy="43628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рямоугольник 13"/>
          <p:cNvSpPr/>
          <p:nvPr/>
        </p:nvSpPr>
        <p:spPr>
          <a:xfrm>
            <a:off x="4547730" y="5537135"/>
            <a:ext cx="1587500" cy="279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200" dirty="0" smtClean="0"/>
              <a:t>Переведем ключи</a:t>
            </a:r>
            <a:endParaRPr lang="ru-RU" sz="1200" dirty="0"/>
          </a:p>
        </p:txBody>
      </p:sp>
      <p:sp>
        <p:nvSpPr>
          <p:cNvPr id="17" name="Прямоугольник 16"/>
          <p:cNvSpPr/>
          <p:nvPr/>
        </p:nvSpPr>
        <p:spPr>
          <a:xfrm>
            <a:off x="480480" y="2670691"/>
            <a:ext cx="1370441" cy="57971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200" dirty="0" smtClean="0"/>
              <a:t>Записалась 1 </a:t>
            </a:r>
            <a:r>
              <a:rPr lang="ru-RU" sz="1200" dirty="0"/>
              <a:t>4</a:t>
            </a:r>
            <a:r>
              <a:rPr lang="ru-RU" sz="1200" dirty="0" smtClean="0"/>
              <a:t>-его разряда кода в первый регистр </a:t>
            </a:r>
            <a:endParaRPr lang="ru-RU" sz="1200" dirty="0"/>
          </a:p>
        </p:txBody>
      </p:sp>
      <p:cxnSp>
        <p:nvCxnSpPr>
          <p:cNvPr id="18" name="Прямая со стрелкой 17"/>
          <p:cNvCxnSpPr/>
          <p:nvPr/>
        </p:nvCxnSpPr>
        <p:spPr>
          <a:xfrm>
            <a:off x="1850921" y="2895530"/>
            <a:ext cx="1866877" cy="7595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Прямоугольник 19"/>
          <p:cNvSpPr/>
          <p:nvPr/>
        </p:nvSpPr>
        <p:spPr>
          <a:xfrm>
            <a:off x="6135230" y="3250401"/>
            <a:ext cx="1370441" cy="57971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200" dirty="0" smtClean="0"/>
              <a:t>Произошел сдвиг 1-ого разряда во 4-ой триггер</a:t>
            </a:r>
            <a:endParaRPr lang="ru-RU" sz="1200" dirty="0"/>
          </a:p>
        </p:txBody>
      </p:sp>
      <p:cxnSp>
        <p:nvCxnSpPr>
          <p:cNvPr id="21" name="Прямая со стрелкой 20"/>
          <p:cNvCxnSpPr/>
          <p:nvPr/>
        </p:nvCxnSpPr>
        <p:spPr>
          <a:xfrm flipV="1">
            <a:off x="6513633" y="2971001"/>
            <a:ext cx="992038" cy="16934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07434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188" y="1686943"/>
            <a:ext cx="9938703" cy="3554412"/>
          </a:xfrm>
          <a:prstGeom prst="rect">
            <a:avLst/>
          </a:prstGeom>
        </p:spPr>
      </p:pic>
      <p:cxnSp>
        <p:nvCxnSpPr>
          <p:cNvPr id="21" name="Прямая со стрелкой 20"/>
          <p:cNvCxnSpPr/>
          <p:nvPr/>
        </p:nvCxnSpPr>
        <p:spPr>
          <a:xfrm flipV="1">
            <a:off x="7116792" y="3433159"/>
            <a:ext cx="2718011" cy="224367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0388" y="5454505"/>
            <a:ext cx="4972050" cy="4191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837" y="3129493"/>
            <a:ext cx="2760663" cy="607332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3563" y="3547458"/>
            <a:ext cx="729684" cy="110141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5629067" y="3448639"/>
            <a:ext cx="74418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 smtClean="0">
                <a:solidFill>
                  <a:srgbClr val="FF0000"/>
                </a:solidFill>
              </a:rPr>
              <a:t>1001</a:t>
            </a:r>
            <a:endParaRPr lang="ru-RU" sz="1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69337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165" y="1284052"/>
            <a:ext cx="11186512" cy="4357991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9328" y="2032467"/>
            <a:ext cx="3657600" cy="457200"/>
          </a:xfrm>
          <a:prstGeom prst="rect">
            <a:avLst/>
          </a:prstGeom>
        </p:spPr>
      </p:pic>
      <p:cxnSp>
        <p:nvCxnSpPr>
          <p:cNvPr id="6" name="Прямая со стрелкой 5"/>
          <p:cNvCxnSpPr/>
          <p:nvPr/>
        </p:nvCxnSpPr>
        <p:spPr>
          <a:xfrm flipH="1">
            <a:off x="2426251" y="2261067"/>
            <a:ext cx="1043077" cy="11550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Овал 7"/>
          <p:cNvSpPr/>
          <p:nvPr/>
        </p:nvSpPr>
        <p:spPr>
          <a:xfrm>
            <a:off x="2550864" y="2354181"/>
            <a:ext cx="6516134" cy="50197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92306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658" y="1178184"/>
            <a:ext cx="11866921" cy="468630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3326350" y="5272720"/>
            <a:ext cx="4685078" cy="36126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600" b="1" dirty="0" smtClean="0">
                <a:solidFill>
                  <a:srgbClr val="FF0000"/>
                </a:solidFill>
              </a:rPr>
              <a:t>Регистр готов к записи нового кода</a:t>
            </a:r>
            <a:endParaRPr lang="ru-RU" sz="16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80055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202</Words>
  <Application>Microsoft Office PowerPoint</Application>
  <PresentationFormat>Широкоэкранный</PresentationFormat>
  <Paragraphs>32</Paragraphs>
  <Slides>16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Anastasya</dc:creator>
  <cp:lastModifiedBy>Anastasya</cp:lastModifiedBy>
  <cp:revision>24</cp:revision>
  <dcterms:created xsi:type="dcterms:W3CDTF">2021-05-11T23:24:37Z</dcterms:created>
  <dcterms:modified xsi:type="dcterms:W3CDTF">2021-05-12T00:57:54Z</dcterms:modified>
</cp:coreProperties>
</file>